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sldIdLst>
    <p:sldId id="256" r:id="rId2"/>
  </p:sldIdLst>
  <p:sldSz cx="9144000" cy="6858000" type="screen4x3"/>
  <p:notesSz cx="7559675" cy="10691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84262" autoAdjust="0"/>
  </p:normalViewPr>
  <p:slideViewPr>
    <p:cSldViewPr snapToGrid="0" snapToObjects="1">
      <p:cViewPr>
        <p:scale>
          <a:sx n="125" d="100"/>
          <a:sy n="125" d="100"/>
        </p:scale>
        <p:origin x="34" y="-2386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un Moon" userId="c47e8a42517535fc" providerId="LiveId" clId="{E6F2F26D-FEF7-4A51-BB2B-E26C0D300FE2}"/>
    <pc:docChg chg="undo custSel modSld">
      <pc:chgData name="Jiun Moon" userId="c47e8a42517535fc" providerId="LiveId" clId="{E6F2F26D-FEF7-4A51-BB2B-E26C0D300FE2}" dt="2026-02-03T02:27:05.678" v="383" actId="242"/>
      <pc:docMkLst>
        <pc:docMk/>
      </pc:docMkLst>
      <pc:sldChg chg="addSp delSp modSp mod">
        <pc:chgData name="Jiun Moon" userId="c47e8a42517535fc" providerId="LiveId" clId="{E6F2F26D-FEF7-4A51-BB2B-E26C0D300FE2}" dt="2026-02-03T02:27:05.678" v="383" actId="242"/>
        <pc:sldMkLst>
          <pc:docMk/>
          <pc:sldMk cId="0" sldId="256"/>
        </pc:sldMkLst>
        <pc:graphicFrameChg chg="add del mod modGraphic">
          <ac:chgData name="Jiun Moon" userId="c47e8a42517535fc" providerId="LiveId" clId="{E6F2F26D-FEF7-4A51-BB2B-E26C0D300FE2}" dt="2026-02-03T02:26:39.138" v="376" actId="12788"/>
          <ac:graphicFrameMkLst>
            <pc:docMk/>
            <pc:sldMk cId="0" sldId="256"/>
            <ac:graphicFrameMk id="38" creationId="{00000000-0000-0000-0000-000000000000}"/>
          </ac:graphicFrameMkLst>
        </pc:graphicFrameChg>
        <pc:graphicFrameChg chg="mod modGraphic">
          <ac:chgData name="Jiun Moon" userId="c47e8a42517535fc" providerId="LiveId" clId="{E6F2F26D-FEF7-4A51-BB2B-E26C0D300FE2}" dt="2026-02-03T02:26:39.138" v="376" actId="12788"/>
          <ac:graphicFrameMkLst>
            <pc:docMk/>
            <pc:sldMk cId="0" sldId="256"/>
            <ac:graphicFrameMk id="39" creationId="{00000000-0000-0000-0000-000000000000}"/>
          </ac:graphicFrameMkLst>
        </pc:graphicFrameChg>
        <pc:graphicFrameChg chg="mod modGraphic">
          <ac:chgData name="Jiun Moon" userId="c47e8a42517535fc" providerId="LiveId" clId="{E6F2F26D-FEF7-4A51-BB2B-E26C0D300FE2}" dt="2026-02-03T02:27:05.678" v="383" actId="242"/>
          <ac:graphicFrameMkLst>
            <pc:docMk/>
            <pc:sldMk cId="0" sldId="256"/>
            <ac:graphicFrameMk id="40" creationId="{00000000-0000-0000-0000-000000000000}"/>
          </ac:graphicFrameMkLst>
        </pc:graphicFrameChg>
        <pc:picChg chg="mod">
          <ac:chgData name="Jiun Moon" userId="c47e8a42517535fc" providerId="LiveId" clId="{E6F2F26D-FEF7-4A51-BB2B-E26C0D300FE2}" dt="2026-02-03T02:26:44.758" v="377" actId="14100"/>
          <ac:picMkLst>
            <pc:docMk/>
            <pc:sldMk cId="0" sldId="256"/>
            <ac:picMk id="43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94560"/>
            <a:ext cx="7771320" cy="13410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94560"/>
            <a:ext cx="7771320" cy="13410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85800" y="2194560"/>
            <a:ext cx="7771320" cy="13410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44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94560"/>
            <a:ext cx="7771320" cy="13410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85800" y="2194560"/>
            <a:ext cx="7771320" cy="62175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5800" y="2194560"/>
            <a:ext cx="7771320" cy="13410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44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94560"/>
            <a:ext cx="7771320" cy="13410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3880" y="3682080"/>
            <a:ext cx="4015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94560"/>
            <a:ext cx="7771320" cy="13410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85800" y="2194560"/>
            <a:ext cx="7771320" cy="13410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2194560"/>
            <a:ext cx="7771320" cy="13410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3880" y="1604520"/>
            <a:ext cx="4015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3880" y="3682080"/>
            <a:ext cx="4015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85800" y="2194560"/>
            <a:ext cx="7771320" cy="13410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94560"/>
            <a:ext cx="7771320" cy="13410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굴림"/>
              </a:rPr>
              <a:t>제목 텍스트의 서식을 편집하려면 클릭하십시오.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굴림"/>
              </a:rPr>
              <a:t>개요 텍스트의 서식을 편집하려면 클릭하십시오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굴림"/>
              </a:rPr>
              <a:t>2번째 개요 수준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굴림"/>
              </a:rPr>
              <a:t>3번째 개요 수준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굴림"/>
              </a:rPr>
              <a:t>4번째 개요 수준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굴림"/>
              </a:rPr>
              <a:t>5번째 개요 수준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굴림"/>
              </a:rPr>
              <a:t>6번째 개요 수준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굴림"/>
              </a:rPr>
              <a:t>7번째 개요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tjrgus1120@naver.com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le 1"/>
          <p:cNvGraphicFramePr/>
          <p:nvPr>
            <p:extLst>
              <p:ext uri="{D42A27DB-BD31-4B8C-83A1-F6EECF244321}">
                <p14:modId xmlns:p14="http://schemas.microsoft.com/office/powerpoint/2010/main" val="3866476500"/>
              </p:ext>
            </p:extLst>
          </p:nvPr>
        </p:nvGraphicFramePr>
        <p:xfrm>
          <a:off x="219960" y="505440"/>
          <a:ext cx="8780760" cy="2005442"/>
        </p:xfrm>
        <a:graphic>
          <a:graphicData uri="http://schemas.openxmlformats.org/drawingml/2006/table">
            <a:tbl>
              <a:tblPr firstRow="1" bandRow="1"/>
              <a:tblGrid>
                <a:gridCol w="1351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849">
                <a:tc gridSpan="5">
                  <a:txBody>
                    <a:bodyPr/>
                    <a:lstStyle/>
                    <a:p>
                      <a:pPr marL="285840" indent="-28476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Wingdings"/>
                        <a:buChar char="Ø"/>
                        <a:defRPr/>
                      </a:pPr>
                      <a:r>
                        <a:rPr lang="en-US" sz="1400" b="1" strike="noStrike" spc="-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기본인적사항</a:t>
                      </a:r>
                      <a:endParaRPr lang="en-US" sz="1400" b="0" strike="noStrike" spc="-1" dirty="0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849">
                <a:tc rowSpan="4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         름</a:t>
                      </a:r>
                      <a:endParaRPr lang="en-US" sz="1200" b="0" strike="noStrike" spc="-1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배 석 현  </a:t>
                      </a:r>
                      <a:endParaRPr lang="en-US" sz="1200" b="0" strike="noStrike" spc="-1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생 년 월 일</a:t>
                      </a:r>
                      <a:endParaRPr lang="en-US" sz="1200" b="0" strike="noStrike" spc="-1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1970년 11월 20일</a:t>
                      </a:r>
                      <a:endParaRPr lang="en-US" sz="1200" b="0" strike="noStrike" spc="-1" dirty="0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849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strike="noStrike" spc="-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소속</a:t>
                      </a:r>
                      <a:r>
                        <a:rPr lang="en-US" sz="1200" b="1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및 </a:t>
                      </a:r>
                      <a:r>
                        <a:rPr lang="en-US" sz="1200" b="1" strike="noStrike" spc="-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연락처</a:t>
                      </a:r>
                      <a:endParaRPr lang="en-US" sz="1200" b="0" strike="noStrike" spc="-1" dirty="0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200" b="0" strike="noStrike" spc="-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이지스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HR </a:t>
                      </a:r>
                      <a:r>
                        <a:rPr lang="en-US" sz="1200" b="0" strike="noStrike" spc="-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컨설팅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200" b="0" strike="noStrike" spc="-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대표이사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/   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hlinkClick r:id="rId2"/>
                        </a:rPr>
                        <a:t>tjrgus1120@naver.com/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   010 3227 2045</a:t>
                      </a:r>
                      <a:endParaRPr lang="en-US" sz="1200" b="0" strike="noStrike" spc="-1" dirty="0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046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전  문  분 야</a:t>
                      </a:r>
                      <a:endParaRPr lang="en-US" sz="1200" b="0" strike="noStrike" spc="-1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defRPr/>
                      </a:pPr>
                      <a:r>
                        <a:rPr lang="en-US" sz="1200" b="0" strike="noStrike" spc="-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기업교육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/ </a:t>
                      </a:r>
                      <a:r>
                        <a:rPr lang="en-US" sz="1200" b="0" strike="noStrike" spc="-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면접관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/ </a:t>
                      </a:r>
                      <a:r>
                        <a:rPr lang="en-US" sz="1200" b="0" strike="noStrike" spc="-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서류평가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/ </a:t>
                      </a:r>
                      <a:r>
                        <a:rPr lang="en-US" sz="1200" b="0" strike="noStrike" spc="-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보험심사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및 </a:t>
                      </a:r>
                      <a:r>
                        <a:rPr lang="en-US" sz="1200" b="0" strike="noStrike" spc="-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/ </a:t>
                      </a:r>
                      <a:r>
                        <a:rPr lang="ko-KR" altLang="en-US" sz="12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경영컨설팅</a:t>
                      </a:r>
                      <a:endParaRPr lang="en-US" sz="1200" b="0" strike="noStrike" spc="-1" dirty="0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849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strike="noStrike" spc="-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학          력</a:t>
                      </a:r>
                      <a:endParaRPr lang="en-US" sz="1200" b="0" strike="noStrike" spc="-1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200" b="0" strike="noStrike" spc="-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신한대학교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200" b="0" strike="noStrike" spc="-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글로벌경영학과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sz="1200" b="0" strike="noStrike" spc="-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졸업</a:t>
                      </a:r>
                      <a:endParaRPr lang="en-US" sz="1200" b="0" strike="noStrike" spc="-1" dirty="0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9" name="Table 2"/>
          <p:cNvGraphicFramePr/>
          <p:nvPr>
            <p:extLst>
              <p:ext uri="{D42A27DB-BD31-4B8C-83A1-F6EECF244321}">
                <p14:modId xmlns:p14="http://schemas.microsoft.com/office/powerpoint/2010/main" val="429028346"/>
              </p:ext>
            </p:extLst>
          </p:nvPr>
        </p:nvGraphicFramePr>
        <p:xfrm>
          <a:off x="230580" y="2510880"/>
          <a:ext cx="8759520" cy="2838360"/>
        </p:xfrm>
        <a:graphic>
          <a:graphicData uri="http://schemas.openxmlformats.org/drawingml/2006/table">
            <a:tbl>
              <a:tblPr firstRow="1" bandRow="1"/>
              <a:tblGrid>
                <a:gridCol w="148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541">
                <a:tc gridSpan="2">
                  <a:txBody>
                    <a:bodyPr/>
                    <a:lstStyle/>
                    <a:p>
                      <a:pPr marL="285840" indent="-28476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Wingdings"/>
                        <a:buChar char="Ø"/>
                        <a:defRPr/>
                      </a:pPr>
                      <a:r>
                        <a:rPr lang="en-US" sz="1400" b="1" strike="noStrike" spc="-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경력사항</a:t>
                      </a:r>
                      <a:r>
                        <a:rPr lang="en-US" sz="1400" b="1" strike="noStrike" spc="-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및 </a:t>
                      </a:r>
                      <a:r>
                        <a:rPr lang="en-US" sz="1400" b="1" strike="noStrike" spc="-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수행실적</a:t>
                      </a:r>
                      <a:endParaRPr lang="en-US" sz="1400" b="0" strike="noStrike" spc="-1" dirty="0">
                        <a:latin typeface="맑은 고딕"/>
                        <a:ea typeface="맑은 고딕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0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strike="noStrike" spc="-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주요이력</a:t>
                      </a:r>
                      <a:endParaRPr lang="en-US" sz="1200" b="0" strike="noStrike" spc="-1" dirty="0">
                        <a:latin typeface="맑은 고딕"/>
                        <a:ea typeface="맑은 고딕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marL="2160" indent="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StarSymbol"/>
                        <a:buNone/>
                        <a:defRPr/>
                      </a:pPr>
                      <a:r>
                        <a:rPr lang="ko-KR" altLang="en-US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現</a:t>
                      </a:r>
                      <a:r>
                        <a:rPr lang="en-US" altLang="ko-KR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200" b="0" strike="noStrike" spc="-1" dirty="0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이지스</a:t>
                      </a:r>
                      <a:r>
                        <a:rPr lang="ko-KR" altLang="en-US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HR </a:t>
                      </a:r>
                      <a:r>
                        <a:rPr lang="ko-KR" altLang="en-US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컨설팅 대표</a:t>
                      </a:r>
                      <a:r>
                        <a:rPr lang="en-US" altLang="ko-KR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공공기관 채용평가 업무</a:t>
                      </a:r>
                      <a:r>
                        <a:rPr lang="en-US" altLang="ko-KR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(2020~</a:t>
                      </a:r>
                      <a:r>
                        <a:rPr lang="ko-KR" altLang="en-US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</a:t>
                      </a:r>
                      <a:r>
                        <a:rPr lang="en-US" altLang="ko-KR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2160" indent="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StarSymbol"/>
                        <a:buNone/>
                        <a:defRPr/>
                      </a:pPr>
                      <a:r>
                        <a:rPr lang="ko-KR" altLang="en-US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前 </a:t>
                      </a:r>
                      <a:r>
                        <a:rPr lang="en-US" sz="1200" b="0" strike="noStrike" spc="-1" dirty="0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흥국생명보험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(주) (1995~2018)</a:t>
                      </a:r>
                    </a:p>
                    <a:p>
                      <a:pPr marL="2160" indent="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StarSymbol"/>
                        <a:buNone/>
                        <a:defRPr/>
                      </a:pP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- </a:t>
                      </a:r>
                      <a:r>
                        <a:rPr lang="ko-KR" altLang="en-US" sz="1200" b="0" strike="noStrike" spc="-1" dirty="0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언더라이팅팀</a:t>
                      </a:r>
                      <a:r>
                        <a:rPr lang="en-US" altLang="ko-KR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신계약심사업무</a:t>
                      </a:r>
                      <a:r>
                        <a:rPr lang="en-US" altLang="ko-KR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(1995~2006/2012~2015), / </a:t>
                      </a:r>
                      <a:r>
                        <a:rPr lang="ko-KR" altLang="en-US" sz="1200" b="0" strike="noStrike" spc="-1" dirty="0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콜센타</a:t>
                      </a:r>
                      <a:r>
                        <a:rPr lang="en-US" altLang="ko-KR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인사 및 교육</a:t>
                      </a:r>
                      <a:r>
                        <a:rPr lang="en-US" altLang="ko-KR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(2006~2012)</a:t>
                      </a:r>
                    </a:p>
                    <a:p>
                      <a:pPr marL="2160" indent="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StarSymbol"/>
                        <a:buNone/>
                        <a:defRPr/>
                      </a:pP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- </a:t>
                      </a:r>
                      <a:r>
                        <a:rPr lang="ko-KR" altLang="en-US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소비자보호팀</a:t>
                      </a:r>
                      <a:r>
                        <a:rPr lang="en-US" altLang="ko-KR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금융감독원 대외 민원업무</a:t>
                      </a:r>
                      <a:r>
                        <a:rPr lang="en-US" altLang="ko-KR" sz="1200" b="0" strike="noStrike" spc="-1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(2016~2018)</a:t>
                      </a:r>
                      <a:endParaRPr lang="en-US" sz="1200" b="0" strike="noStrike" spc="-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4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200" b="1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주요</a:t>
                      </a:r>
                      <a:r>
                        <a:rPr lang="en-US" sz="1200" b="1" strike="noStrike" spc="-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실적</a:t>
                      </a:r>
                      <a:endParaRPr lang="en-US" sz="1200" b="1" strike="noStrike" spc="-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marL="2160" indent="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lang="en-US" altLang="ko-KR" sz="1200" b="1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200" b="1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서류</a:t>
                      </a:r>
                      <a:r>
                        <a:rPr lang="en-US" altLang="ko-KR" sz="1200" b="1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국가철도공단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기업은행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지역난방공사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제주통합채용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서민금융진흥원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한국수력원자력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안전보건공단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새만금개발공사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국립공항박물관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한국투자공사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SH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공사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(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)SR,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인천공항시설관리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코이카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서울교육청 외 다수</a:t>
                      </a:r>
                      <a:endParaRPr lang="en-US" altLang="ko-KR" sz="1200" b="0" strike="noStrike" spc="-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160" indent="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None/>
                        <a:defRPr/>
                      </a:pPr>
                      <a:r>
                        <a:rPr lang="en-US" altLang="ko-KR" sz="1200" b="1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200" b="1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면접</a:t>
                      </a:r>
                      <a:r>
                        <a:rPr lang="en-US" altLang="ko-KR" sz="1200" b="1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한국환경공단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금융감독원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한국수력원자력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한국전력기술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건강보험공단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농어촌공사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한전원자력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대구장학재단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국립공원공단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SH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공사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수협중앙회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소상공인진흥공단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서민금융진흥원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한국부동산원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한전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KPS,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중부발전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호남권생물자원관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국방기술품질원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인천교통공사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한국에너지공단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한국원자력안전기술원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하나은행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한국무역보험공사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예술의 전당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수자원공사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강원랜드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한국교육학술정보원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건강보험심사평가원</a:t>
                      </a:r>
                      <a:r>
                        <a:rPr lang="en-US" altLang="ko-KR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strike="noStrike" spc="-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산업은행 외 다수</a:t>
                      </a:r>
                      <a:endParaRPr lang="en-US" sz="1200" b="0" strike="noStrike" spc="-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0" name="Table 3"/>
          <p:cNvGraphicFramePr/>
          <p:nvPr>
            <p:extLst>
              <p:ext uri="{D42A27DB-BD31-4B8C-83A1-F6EECF244321}">
                <p14:modId xmlns:p14="http://schemas.microsoft.com/office/powerpoint/2010/main" val="916909236"/>
              </p:ext>
            </p:extLst>
          </p:nvPr>
        </p:nvGraphicFramePr>
        <p:xfrm>
          <a:off x="234818" y="5417082"/>
          <a:ext cx="8751045" cy="1331189"/>
        </p:xfrm>
        <a:graphic>
          <a:graphicData uri="http://schemas.openxmlformats.org/drawingml/2006/table">
            <a:tbl>
              <a:tblPr firstRow="1" bandRow="1"/>
              <a:tblGrid>
                <a:gridCol w="1472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9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8689">
                <a:tc gridSpan="2">
                  <a:txBody>
                    <a:bodyPr/>
                    <a:lstStyle/>
                    <a:p>
                      <a:pPr marL="285840" indent="-284760">
                        <a:lnSpc>
                          <a:spcPct val="100000"/>
                        </a:lnSpc>
                        <a:buClr>
                          <a:srgbClr val="FFFFFF"/>
                        </a:buClr>
                        <a:buFont typeface="Wingdings"/>
                        <a:buChar char="Ø"/>
                        <a:defRPr/>
                      </a:pPr>
                      <a:r>
                        <a:rPr lang="en-US" sz="1400" b="1" strike="noStrike" spc="-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기타</a:t>
                      </a:r>
                      <a:r>
                        <a:rPr lang="en-US" sz="1400" b="1" strike="noStrike" spc="-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lang="en-US" sz="1400" b="1" strike="noStrike" spc="-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자격</a:t>
                      </a:r>
                      <a:r>
                        <a:rPr lang="en-US" sz="1400" b="1" strike="noStrike" spc="-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및 </a:t>
                      </a:r>
                      <a:r>
                        <a:rPr lang="en-US" sz="1400" b="1" strike="noStrike" spc="-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이수</a:t>
                      </a:r>
                      <a:r>
                        <a:rPr lang="en-US" sz="1400" b="1" strike="noStrike" spc="-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lang="en-US" sz="1400" b="1" strike="noStrike" spc="-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저서</a:t>
                      </a:r>
                      <a:r>
                        <a:rPr lang="en-US" sz="1400" b="1" strike="noStrike" spc="-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등)</a:t>
                      </a:r>
                      <a:endParaRPr lang="en-US" sz="1400" b="0" strike="noStrike" spc="-1" dirty="0">
                        <a:latin typeface="맑은 고딕"/>
                        <a:ea typeface="맑은 고딕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2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strike="noStrike" spc="-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자격</a:t>
                      </a:r>
                      <a:r>
                        <a:rPr lang="en-US" sz="1200" b="1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및 </a:t>
                      </a:r>
                      <a:r>
                        <a:rPr lang="en-US" sz="1200" b="1" strike="noStrike" spc="-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이수</a:t>
                      </a:r>
                      <a:endParaRPr lang="en-US" sz="1200" b="0" strike="noStrike" spc="-1" dirty="0">
                        <a:latin typeface="맑은 고딕"/>
                        <a:ea typeface="맑은 고딕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marL="285840" indent="-28368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defRPr/>
                      </a:pPr>
                      <a:r>
                        <a:rPr lang="en-US" altLang="ko-KR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2025</a:t>
                      </a:r>
                      <a:r>
                        <a:rPr lang="ko-KR" altLang="en-US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년 </a:t>
                      </a:r>
                      <a:r>
                        <a:rPr lang="ko-KR" altLang="en-US" sz="1100" b="0" strike="noStrike" spc="-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한국전문면접관협회</a:t>
                      </a:r>
                      <a:r>
                        <a:rPr lang="ko-KR" altLang="en-US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채용면접전문가 </a:t>
                      </a:r>
                      <a:r>
                        <a:rPr lang="en-US" altLang="ko-KR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  <a:r>
                        <a:rPr lang="ko-KR" altLang="en-US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급 </a:t>
                      </a:r>
                    </a:p>
                    <a:p>
                      <a:pPr marL="285840" indent="-28368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defRPr/>
                      </a:pPr>
                      <a:r>
                        <a:rPr lang="en-US" altLang="ko-KR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2025</a:t>
                      </a:r>
                      <a:r>
                        <a:rPr lang="ko-KR" altLang="en-US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년 </a:t>
                      </a:r>
                      <a:r>
                        <a:rPr lang="ko-KR" altLang="en-US" sz="1100" b="0" strike="noStrike" spc="-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생애설계코칭전문가</a:t>
                      </a:r>
                      <a:r>
                        <a:rPr lang="ko-KR" altLang="en-US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  <a:r>
                        <a:rPr lang="ko-KR" altLang="en-US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급 </a:t>
                      </a:r>
                    </a:p>
                    <a:p>
                      <a:pPr marL="285840" indent="-28368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defRPr/>
                      </a:pPr>
                      <a:r>
                        <a:rPr lang="en-US" altLang="ko-KR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2024</a:t>
                      </a:r>
                      <a:r>
                        <a:rPr lang="ko-KR" altLang="en-US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년 </a:t>
                      </a:r>
                      <a:r>
                        <a:rPr lang="ko-KR" altLang="en-US" sz="1100" b="0" strike="noStrike" spc="-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한국전문면접평가인증원</a:t>
                      </a:r>
                      <a:r>
                        <a:rPr lang="ko-KR" altLang="en-US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채용면접전문가 자격과정 수료</a:t>
                      </a:r>
                    </a:p>
                    <a:p>
                      <a:pPr marL="285840" indent="-28368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defRPr/>
                      </a:pPr>
                      <a:r>
                        <a:rPr lang="en-US" altLang="ko-KR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2021</a:t>
                      </a:r>
                      <a:r>
                        <a:rPr lang="ko-KR" altLang="en-US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년 </a:t>
                      </a:r>
                      <a:r>
                        <a:rPr lang="ko-KR" altLang="en-US" sz="1100" b="0" strike="noStrike" spc="-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라온컨설팅</a:t>
                      </a:r>
                      <a:r>
                        <a:rPr lang="ko-KR" altLang="en-US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  <a:r>
                        <a:rPr lang="ko-KR" altLang="en-US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 전문면접관 교육과정 수료</a:t>
                      </a:r>
                    </a:p>
                    <a:p>
                      <a:pPr marL="285840" indent="-28368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  <a:defRPr/>
                      </a:pPr>
                      <a:r>
                        <a:rPr lang="en-US" altLang="ko-KR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2009</a:t>
                      </a:r>
                      <a:r>
                        <a:rPr lang="ko-KR" altLang="en-US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년 생명보험협회 </a:t>
                      </a:r>
                      <a:r>
                        <a:rPr lang="en-US" altLang="ko-KR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AKLU(</a:t>
                      </a:r>
                      <a:r>
                        <a:rPr lang="ko-KR" altLang="en-US" sz="1100" b="0" strike="noStrike" spc="-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전문언더라이터</a:t>
                      </a:r>
                      <a:r>
                        <a:rPr lang="ko-KR" altLang="en-US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Associate Korea Life Underwriter</a:t>
                      </a:r>
                      <a:r>
                        <a:rPr lang="ko-KR" altLang="en-US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과정</a:t>
                      </a:r>
                      <a:r>
                        <a:rPr lang="en-US" altLang="ko-KR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 </a:t>
                      </a:r>
                      <a:r>
                        <a:rPr lang="ko-KR" altLang="en-US" sz="1100" b="0" strike="noStrike" spc="-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자격증 취득</a:t>
                      </a: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" name="CustomShape 4"/>
          <p:cNvSpPr/>
          <p:nvPr/>
        </p:nvSpPr>
        <p:spPr>
          <a:xfrm>
            <a:off x="4114800" y="3162240"/>
            <a:ext cx="183600" cy="3682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defRPr/>
            </a:pPr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42" name="CustomShape 5"/>
          <p:cNvSpPr/>
          <p:nvPr/>
        </p:nvSpPr>
        <p:spPr>
          <a:xfrm>
            <a:off x="0" y="0"/>
            <a:ext cx="2427840" cy="427680"/>
          </a:xfrm>
          <a:prstGeom prst="rect">
            <a:avLst/>
          </a:prstGeom>
          <a:noFill/>
          <a:ln>
            <a:noFill/>
          </a:ln>
        </p:spPr>
        <p:txBody>
          <a:bodyPr lIns="89999" tIns="44999" rIns="89999" bIns="44999" anchor="ctr">
            <a:normAutofit lnSpcReduction="10000"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sz="2400" b="1" strike="noStrike" spc="-1">
                <a:solidFill>
                  <a:srgbClr val="4F81BD"/>
                </a:solidFill>
                <a:latin typeface="맑은 고딕"/>
                <a:ea typeface="맑은 고딕"/>
              </a:rPr>
              <a:t>면접관 Profile</a:t>
            </a:r>
            <a:endParaRPr lang="en-US" sz="2400" b="0" strike="noStrike" spc="-1">
              <a:latin typeface="맑은 고딕"/>
              <a:ea typeface="맑은 고딕"/>
            </a:endParaRPr>
          </a:p>
        </p:txBody>
      </p:sp>
      <p:pic>
        <p:nvPicPr>
          <p:cNvPr id="43" name="그림 42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234818" y="875040"/>
            <a:ext cx="1348822" cy="1635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267</Words>
  <Application>Microsoft Office PowerPoint</Application>
  <PresentationFormat>화면 슬라이드 쇼(4:3)</PresentationFormat>
  <Paragraphs>28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StarSymbol</vt:lpstr>
      <vt:lpstr>굴림</vt:lpstr>
      <vt:lpstr>맑은 고딕</vt:lpstr>
      <vt:lpstr>Arial</vt:lpstr>
      <vt:lpstr>Symbol</vt:lpstr>
      <vt:lpstr>Wingdings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Jiun Moon</cp:lastModifiedBy>
  <cp:revision>93</cp:revision>
  <dcterms:created xsi:type="dcterms:W3CDTF">2014-08-26T23:33:08Z</dcterms:created>
  <dcterms:modified xsi:type="dcterms:W3CDTF">2026-02-03T02:27:07Z</dcterms:modified>
  <cp:version/>
</cp:coreProperties>
</file>