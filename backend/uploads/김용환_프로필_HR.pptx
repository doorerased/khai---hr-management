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1" r:id="rId2"/>
  </p:sldIdLst>
  <p:sldSz cx="9144000" cy="6858000" type="screen4x3"/>
  <p:notesSz cx="6792913" cy="992505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8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G" initials="L" lastIdx="1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1380" y="72"/>
      </p:cViewPr>
      <p:guideLst>
        <p:guide orient="horz" pos="2158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322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8100" y="0"/>
            <a:ext cx="294322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lvl="0"/>
            <a:fld id="{D707D3F7-12E9-4BF5-97AD-39B692A01FAF}" type="datetime1">
              <a:rPr lang="ko-KR" altLang="en-US" smtClean="0"/>
              <a:t>2025-12-28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63638" y="1241425"/>
            <a:ext cx="4465637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4013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322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8100" y="9428163"/>
            <a:ext cx="294322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lvl="0"/>
            <a:fld id="{9134C32D-3D74-4154-BD32-A5A179BC93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001805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34C32D-3D74-4154-BD32-A5A179BC93A5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66817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2025-12-28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0691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2025-12-28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3888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2025-12-28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33192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2025-12-28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09403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2025-12-28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7793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2025-12-28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2938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2025-12-28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2884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2025-12-28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036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2025-12-28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5520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2025-12-28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22280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2025-12-28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5348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4FA2E3-1A32-4DF4-988B-F0AB09D1133F}" type="datetimeFigureOut">
              <a:rPr lang="ko-KR" altLang="en-US" smtClean="0"/>
              <a:pPr/>
              <a:t>2025-12-28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644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5554899"/>
              </p:ext>
            </p:extLst>
          </p:nvPr>
        </p:nvGraphicFramePr>
        <p:xfrm>
          <a:off x="212565" y="446711"/>
          <a:ext cx="8781023" cy="18108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14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87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94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88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726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1101">
                <a:tc gridSpan="5">
                  <a:txBody>
                    <a:bodyPr/>
                    <a:lstStyle/>
                    <a:p>
                      <a:pPr marL="285750" lvl="0" indent="-285750" latinLnBrk="1">
                        <a:buFont typeface="Wingdings"/>
                        <a:buChar char="Ø"/>
                        <a:defRPr/>
                      </a:pPr>
                      <a:r>
                        <a:rPr lang="ko-KR" altLang="en-US" sz="1400"/>
                        <a:t>기본 </a:t>
                      </a:r>
                      <a:r>
                        <a:rPr lang="ko-KR" altLang="en-US" sz="1400" err="1"/>
                        <a:t>인적사항</a:t>
                      </a:r>
                      <a:endParaRPr lang="ko-KR" altLang="en-US" sz="14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1063">
                <a:tc rowSpan="4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1200" b="1"/>
                        <a:t>이         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1400" b="1"/>
                        <a:t>김 용 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1200" b="1"/>
                        <a:t>생 년 월 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en-US" altLang="ko-KR" sz="1200"/>
                        <a:t>1968</a:t>
                      </a:r>
                      <a:r>
                        <a:rPr lang="ko-KR" altLang="en-US" sz="1200"/>
                        <a:t>년 </a:t>
                      </a:r>
                      <a:r>
                        <a:rPr lang="en-US" altLang="ko-KR" sz="1200"/>
                        <a:t>3</a:t>
                      </a:r>
                      <a:r>
                        <a:rPr lang="ko-KR" altLang="en-US" sz="1200"/>
                        <a:t>월 </a:t>
                      </a:r>
                      <a:r>
                        <a:rPr lang="en-US" altLang="ko-KR" sz="1200"/>
                        <a:t>2</a:t>
                      </a:r>
                      <a:r>
                        <a:rPr lang="ko-KR" altLang="en-US" sz="1200"/>
                        <a:t>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1063">
                <a:tc v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1200" b="1"/>
                        <a:t>소속 및 연락처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200" baseline="0" dirty="0"/>
                        <a:t>한국무역보험공사 </a:t>
                      </a:r>
                      <a:r>
                        <a:rPr lang="ko-KR" altLang="en-US" sz="1200" baseline="0" dirty="0" err="1"/>
                        <a:t>리스크총광실</a:t>
                      </a:r>
                      <a:r>
                        <a:rPr lang="ko-KR" altLang="en-US" sz="1200" baseline="0"/>
                        <a:t> 전문위원 </a:t>
                      </a:r>
                      <a:r>
                        <a:rPr lang="en-US" altLang="ko-KR" sz="1200" baseline="0" dirty="0"/>
                        <a:t>/ keic0425@naver.com /</a:t>
                      </a:r>
                      <a:r>
                        <a:rPr lang="ko-KR" altLang="en-US" sz="1200" baseline="0" dirty="0"/>
                        <a:t> </a:t>
                      </a:r>
                      <a:r>
                        <a:rPr lang="en-US" altLang="ko-KR" sz="1200" b="1" baseline="0" dirty="0"/>
                        <a:t>010-4644-8552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3012">
                <a:tc v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1200" b="1"/>
                        <a:t>전  문  분 야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인사관리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정책연구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행정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영업기획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채권관리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리스크관리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법무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예산관리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1063">
                <a:tc v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1200" b="1"/>
                        <a:t>학          력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200" dirty="0"/>
                        <a:t>연세대학교 경영학과 학사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연세대학교 대학원 경영학석사</a:t>
                      </a:r>
                      <a:r>
                        <a:rPr lang="en-US" altLang="ko-KR" sz="1200" dirty="0"/>
                        <a:t>,</a:t>
                      </a:r>
                    </a:p>
                    <a:p>
                      <a:pPr lvl="0" latinLnBrk="1">
                        <a:defRPr/>
                      </a:pPr>
                      <a:r>
                        <a:rPr lang="en-US" altLang="ko-KR" sz="1200" dirty="0"/>
                        <a:t>KDI</a:t>
                      </a:r>
                      <a:r>
                        <a:rPr lang="ko-KR" altLang="en-US" sz="1200" dirty="0"/>
                        <a:t>국제정책대학원 정책학석사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3907002"/>
              </p:ext>
            </p:extLst>
          </p:nvPr>
        </p:nvGraphicFramePr>
        <p:xfrm>
          <a:off x="212565" y="2276872"/>
          <a:ext cx="8759952" cy="34563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09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790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1589">
                <a:tc gridSpan="2">
                  <a:txBody>
                    <a:bodyPr/>
                    <a:lstStyle/>
                    <a:p>
                      <a:pPr marL="285750" marR="0" lvl="0" indent="-28575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 typeface="Wingdings"/>
                        <a:buChar char="Ø"/>
                        <a:defRPr/>
                      </a:pPr>
                      <a:r>
                        <a:rPr lang="ko-KR" altLang="en-US" sz="1200"/>
                        <a:t>경력사항 및 수행실적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66513">
                <a:tc>
                  <a:txBody>
                    <a:bodyPr/>
                    <a:lstStyle/>
                    <a:p>
                      <a:pPr lvl="0" algn="ctr" latinLnBrk="1">
                        <a:lnSpc>
                          <a:spcPct val="150000"/>
                        </a:lnSpc>
                        <a:defRPr/>
                      </a:pPr>
                      <a:r>
                        <a:rPr lang="ko-KR" altLang="en-US" sz="1100" b="1"/>
                        <a:t>주요이력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indent="0" latinLnBrk="1">
                        <a:lnSpc>
                          <a:spcPct val="150000"/>
                        </a:lnSpc>
                        <a:buFontTx/>
                        <a:buNone/>
                        <a:defRPr/>
                      </a:pPr>
                      <a:r>
                        <a:rPr lang="en-US" altLang="ko-KR" sz="1100" b="0" dirty="0"/>
                        <a:t>(2014.07~2015.09) </a:t>
                      </a:r>
                      <a:r>
                        <a:rPr lang="ko-KR" altLang="en-US" sz="1100" b="0" dirty="0"/>
                        <a:t>무역보험공사 영업총괄실 영업기획팀장 </a:t>
                      </a:r>
                      <a:r>
                        <a:rPr lang="en-US" altLang="ko-KR" sz="1100" b="0" dirty="0"/>
                        <a:t>(</a:t>
                      </a:r>
                      <a:r>
                        <a:rPr lang="ko-KR" altLang="en-US" sz="1100" b="0" dirty="0"/>
                        <a:t>무역보험 상품 기획 및 마케팅 총괄</a:t>
                      </a:r>
                      <a:r>
                        <a:rPr lang="en-US" altLang="ko-KR" sz="1100" b="0" dirty="0"/>
                        <a:t>)</a:t>
                      </a:r>
                    </a:p>
                    <a:p>
                      <a:pPr marL="0" lvl="0" indent="0" latinLnBrk="1">
                        <a:lnSpc>
                          <a:spcPct val="150000"/>
                        </a:lnSpc>
                        <a:buFontTx/>
                        <a:buNone/>
                        <a:defRPr/>
                      </a:pPr>
                      <a:r>
                        <a:rPr lang="en-US" altLang="ko-KR" sz="1100" b="0" dirty="0"/>
                        <a:t>(2015.10~2017.06)</a:t>
                      </a:r>
                      <a:r>
                        <a:rPr lang="ko-KR" altLang="en-US" sz="1100" b="0" dirty="0"/>
                        <a:t> 무역보험공사 인사부 인사팀장 </a:t>
                      </a:r>
                      <a:r>
                        <a:rPr lang="en-US" altLang="ko-KR" sz="1100" b="0" dirty="0"/>
                        <a:t>(</a:t>
                      </a:r>
                      <a:r>
                        <a:rPr lang="ko-KR" altLang="en-US" sz="1100" b="0" dirty="0"/>
                        <a:t>채용</a:t>
                      </a:r>
                      <a:r>
                        <a:rPr lang="en-US" altLang="ko-KR" sz="1100" b="0" dirty="0"/>
                        <a:t>, </a:t>
                      </a:r>
                      <a:r>
                        <a:rPr lang="ko-KR" altLang="en-US" sz="1100" b="0" dirty="0"/>
                        <a:t>교육훈련</a:t>
                      </a:r>
                      <a:r>
                        <a:rPr lang="en-US" altLang="ko-KR" sz="1100" b="0" dirty="0"/>
                        <a:t>, </a:t>
                      </a:r>
                      <a:r>
                        <a:rPr lang="ko-KR" altLang="en-US" sz="1100" b="0" dirty="0"/>
                        <a:t>배치</a:t>
                      </a:r>
                      <a:r>
                        <a:rPr lang="en-US" altLang="ko-KR" sz="1100" b="0" dirty="0"/>
                        <a:t>, </a:t>
                      </a:r>
                      <a:r>
                        <a:rPr lang="ko-KR" altLang="en-US" sz="1100" b="0" dirty="0"/>
                        <a:t>이동 등 인사관리 총괄</a:t>
                      </a:r>
                      <a:r>
                        <a:rPr lang="en-US" altLang="ko-KR" sz="1100" b="0" dirty="0"/>
                        <a:t>)</a:t>
                      </a:r>
                    </a:p>
                    <a:p>
                      <a:pPr marL="0" lvl="0" indent="0" latinLnBrk="1">
                        <a:lnSpc>
                          <a:spcPct val="150000"/>
                        </a:lnSpc>
                        <a:buFontTx/>
                        <a:buNone/>
                        <a:defRPr/>
                      </a:pPr>
                      <a:r>
                        <a:rPr lang="en-US" altLang="ko-KR" sz="1100" b="0" dirty="0"/>
                        <a:t>(2017.07~2019.12) </a:t>
                      </a:r>
                      <a:r>
                        <a:rPr lang="ko-KR" altLang="en-US" sz="1100" b="0" dirty="0"/>
                        <a:t>무역보험공사 </a:t>
                      </a:r>
                      <a:r>
                        <a:rPr lang="ko-KR" altLang="en-US" sz="1100" b="0" dirty="0" err="1"/>
                        <a:t>비서팀</a:t>
                      </a:r>
                      <a:r>
                        <a:rPr lang="ko-KR" altLang="en-US" sz="1100" b="0" dirty="0"/>
                        <a:t> 팀장 </a:t>
                      </a:r>
                      <a:r>
                        <a:rPr lang="en-US" altLang="ko-KR" sz="1100" b="0" dirty="0"/>
                        <a:t>(</a:t>
                      </a:r>
                      <a:r>
                        <a:rPr lang="ko-KR" altLang="en-US" sz="1100" b="0" dirty="0"/>
                        <a:t>사장직속 </a:t>
                      </a:r>
                      <a:r>
                        <a:rPr lang="ko-KR" altLang="en-US" sz="1100" b="0" dirty="0" err="1"/>
                        <a:t>비서팀</a:t>
                      </a:r>
                      <a:r>
                        <a:rPr lang="ko-KR" altLang="en-US" sz="1100" b="0" dirty="0"/>
                        <a:t> 총괄관리</a:t>
                      </a:r>
                      <a:r>
                        <a:rPr lang="en-US" altLang="ko-KR" sz="1100" b="0" dirty="0"/>
                        <a:t>) </a:t>
                      </a:r>
                    </a:p>
                    <a:p>
                      <a:pPr marL="0" lvl="0" indent="0" latinLnBrk="1">
                        <a:lnSpc>
                          <a:spcPct val="150000"/>
                        </a:lnSpc>
                        <a:buFontTx/>
                        <a:buNone/>
                        <a:defRPr/>
                      </a:pPr>
                      <a:r>
                        <a:rPr lang="en-US" altLang="ko-KR" sz="1100" b="0" dirty="0"/>
                        <a:t>(2021.07~2023.06) </a:t>
                      </a:r>
                      <a:r>
                        <a:rPr lang="ko-KR" altLang="en-US" sz="1100" b="0" dirty="0"/>
                        <a:t>무역보험공사 인사부 부장 </a:t>
                      </a:r>
                      <a:r>
                        <a:rPr lang="en-US" altLang="ko-KR" sz="1100" b="0" dirty="0"/>
                        <a:t>(</a:t>
                      </a:r>
                      <a:r>
                        <a:rPr lang="ko-KR" altLang="en-US" sz="1100" b="0" dirty="0"/>
                        <a:t>인사</a:t>
                      </a:r>
                      <a:r>
                        <a:rPr lang="en-US" altLang="ko-KR" sz="1100" b="0" dirty="0"/>
                        <a:t>, </a:t>
                      </a:r>
                      <a:r>
                        <a:rPr lang="ko-KR" altLang="en-US" sz="1100" b="0" dirty="0"/>
                        <a:t>교육훈련</a:t>
                      </a:r>
                      <a:r>
                        <a:rPr lang="en-US" altLang="ko-KR" sz="1100" b="0" dirty="0"/>
                        <a:t>, </a:t>
                      </a:r>
                      <a:r>
                        <a:rPr lang="ko-KR" altLang="en-US" sz="1100" b="0" dirty="0"/>
                        <a:t>급여후생</a:t>
                      </a:r>
                      <a:r>
                        <a:rPr lang="en-US" altLang="ko-KR" sz="1100" b="0" dirty="0"/>
                        <a:t>, </a:t>
                      </a:r>
                      <a:r>
                        <a:rPr lang="ko-KR" altLang="en-US" sz="1100" b="0" dirty="0"/>
                        <a:t>노사관계 총괄관리</a:t>
                      </a:r>
                      <a:r>
                        <a:rPr lang="en-US" altLang="ko-KR" sz="1100" b="0" dirty="0"/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/>
                        <a:t>(2023.07~2025.06) </a:t>
                      </a:r>
                      <a:r>
                        <a:rPr lang="ko-KR" altLang="en-US" sz="1100" b="0" dirty="0"/>
                        <a:t>무역보험공사 </a:t>
                      </a:r>
                      <a:r>
                        <a:rPr lang="ko-KR" altLang="en-US" sz="1100" b="0" dirty="0" err="1"/>
                        <a:t>리스크채권본부</a:t>
                      </a:r>
                      <a:r>
                        <a:rPr lang="ko-KR" altLang="en-US" sz="1100" b="0" dirty="0"/>
                        <a:t> 본부장 </a:t>
                      </a:r>
                      <a:r>
                        <a:rPr lang="en-US" altLang="ko-KR" sz="1100" b="0" dirty="0"/>
                        <a:t>(</a:t>
                      </a:r>
                      <a:r>
                        <a:rPr lang="ko-KR" altLang="en-US" sz="1100" b="0" dirty="0"/>
                        <a:t>정책연구</a:t>
                      </a:r>
                      <a:r>
                        <a:rPr lang="en-US" altLang="ko-KR" sz="1100" b="0" dirty="0"/>
                        <a:t>, </a:t>
                      </a:r>
                      <a:r>
                        <a:rPr lang="ko-KR" altLang="en-US" sz="1100" b="0" dirty="0" err="1"/>
                        <a:t>리스크관리</a:t>
                      </a:r>
                      <a:r>
                        <a:rPr lang="en-US" altLang="ko-KR" sz="1100" b="0" dirty="0"/>
                        <a:t>, </a:t>
                      </a:r>
                      <a:r>
                        <a:rPr lang="ko-KR" altLang="en-US" sz="1100" b="0" dirty="0"/>
                        <a:t>보상</a:t>
                      </a:r>
                      <a:r>
                        <a:rPr lang="en-US" altLang="ko-KR" sz="1100" b="0" dirty="0"/>
                        <a:t>, </a:t>
                      </a:r>
                      <a:r>
                        <a:rPr lang="ko-KR" altLang="en-US" sz="1100" b="0" dirty="0"/>
                        <a:t>채권관리</a:t>
                      </a:r>
                      <a:r>
                        <a:rPr lang="en-US" altLang="ko-KR" sz="1100" b="0" dirty="0"/>
                        <a:t>, </a:t>
                      </a:r>
                      <a:r>
                        <a:rPr lang="ko-KR" altLang="en-US" sz="1100" b="0" dirty="0"/>
                        <a:t>법무업무 총괄</a:t>
                      </a:r>
                      <a:r>
                        <a:rPr lang="en-US" altLang="ko-KR" sz="1100" b="0" dirty="0"/>
                        <a:t>)</a:t>
                      </a:r>
                    </a:p>
                    <a:p>
                      <a:pPr marL="0" lvl="0" indent="0" latinLnBrk="1">
                        <a:lnSpc>
                          <a:spcPct val="150000"/>
                        </a:lnSpc>
                        <a:buFontTx/>
                        <a:buNone/>
                        <a:defRPr/>
                      </a:pPr>
                      <a:r>
                        <a:rPr lang="en-US" altLang="ko-KR" sz="1100" b="0" dirty="0"/>
                        <a:t>(2025.07 ~  </a:t>
                      </a:r>
                      <a:r>
                        <a:rPr lang="ko-KR" altLang="en-US" sz="1100" b="0" dirty="0"/>
                        <a:t>현재 </a:t>
                      </a:r>
                      <a:r>
                        <a:rPr lang="en-US" altLang="ko-KR" sz="1100" b="0" dirty="0"/>
                        <a:t>) </a:t>
                      </a:r>
                      <a:r>
                        <a:rPr lang="ko-KR" altLang="en-US" sz="1100" b="0" dirty="0"/>
                        <a:t>무역보험공사 </a:t>
                      </a:r>
                      <a:r>
                        <a:rPr lang="ko-KR" altLang="en-US" sz="1100" b="0" dirty="0" err="1"/>
                        <a:t>리스크총괄실</a:t>
                      </a:r>
                      <a:r>
                        <a:rPr lang="ko-KR" altLang="en-US" sz="1100" b="0" dirty="0"/>
                        <a:t> 전문위원 </a:t>
                      </a:r>
                      <a:r>
                        <a:rPr lang="en-US" altLang="ko-KR" sz="1100" b="0" dirty="0"/>
                        <a:t>(</a:t>
                      </a:r>
                      <a:r>
                        <a:rPr lang="ko-KR" altLang="en-US" sz="1100" b="0" dirty="0"/>
                        <a:t>정책연구</a:t>
                      </a:r>
                      <a:r>
                        <a:rPr lang="en-US" altLang="ko-KR" sz="1100" b="0" dirty="0"/>
                        <a:t>, </a:t>
                      </a:r>
                      <a:r>
                        <a:rPr lang="ko-KR" altLang="en-US" sz="1100" b="0" dirty="0" err="1"/>
                        <a:t>리스크관리</a:t>
                      </a:r>
                      <a:r>
                        <a:rPr lang="ko-KR" altLang="en-US" sz="1100" b="0" dirty="0"/>
                        <a:t> 등 공사 업무전반 자문</a:t>
                      </a:r>
                      <a:r>
                        <a:rPr lang="en-US" altLang="ko-KR" sz="1100" b="0" dirty="0"/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98281">
                <a:tc>
                  <a:txBody>
                    <a:bodyPr/>
                    <a:lstStyle/>
                    <a:p>
                      <a:pPr lvl="0" algn="ctr" latinLnBrk="1">
                        <a:lnSpc>
                          <a:spcPct val="150000"/>
                        </a:lnSpc>
                        <a:defRPr/>
                      </a:pPr>
                      <a:r>
                        <a:rPr lang="ko-KR" altLang="en-US" sz="1100" b="1"/>
                        <a:t>수행실적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 typeface="Arial"/>
                        <a:buNone/>
                        <a:defRPr/>
                      </a:pPr>
                      <a:r>
                        <a:rPr lang="en-US" altLang="ko-KR" sz="1100" b="0" dirty="0"/>
                        <a:t>&lt;</a:t>
                      </a:r>
                      <a:r>
                        <a:rPr lang="ko-KR" altLang="en-US" sz="1100" b="0" dirty="0"/>
                        <a:t>채용실무</a:t>
                      </a:r>
                      <a:r>
                        <a:rPr lang="en-US" altLang="ko-KR" sz="1100" b="0" dirty="0"/>
                        <a:t>&gt; </a:t>
                      </a:r>
                      <a:r>
                        <a:rPr lang="ko-KR" altLang="en-US" sz="1100" b="0" dirty="0"/>
                        <a:t>한국무역보험공사 인사팀장 및 인사부장으로 정규직</a:t>
                      </a:r>
                      <a:r>
                        <a:rPr lang="en-US" altLang="ko-KR" sz="1100" b="0" dirty="0"/>
                        <a:t>,</a:t>
                      </a:r>
                      <a:r>
                        <a:rPr lang="ko-KR" altLang="en-US" sz="1100" b="0" dirty="0"/>
                        <a:t> 인턴</a:t>
                      </a:r>
                      <a:r>
                        <a:rPr lang="en-US" altLang="ko-KR" sz="1100" b="0" dirty="0"/>
                        <a:t>, </a:t>
                      </a:r>
                      <a:r>
                        <a:rPr lang="ko-KR" altLang="en-US" sz="1100" b="0" dirty="0"/>
                        <a:t>계약직</a:t>
                      </a:r>
                      <a:r>
                        <a:rPr lang="en-US" altLang="ko-KR" sz="1100" b="0" dirty="0"/>
                        <a:t> </a:t>
                      </a:r>
                      <a:r>
                        <a:rPr lang="ko-KR" altLang="en-US" sz="1100" b="0" dirty="0"/>
                        <a:t>등 채용과정 다수 총괄</a:t>
                      </a:r>
                      <a:endParaRPr lang="en-US" altLang="ko-KR" sz="1100" b="0" dirty="0"/>
                    </a:p>
                    <a:p>
                      <a:pPr marL="0" marR="0" lvl="0" indent="0" algn="l" defTabSz="914400" rtl="0" eaLnBrk="1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 typeface="Arial"/>
                        <a:buNone/>
                        <a:defRPr/>
                      </a:pPr>
                      <a:r>
                        <a:rPr lang="en-US" altLang="ko-KR" sz="1100" b="1" dirty="0"/>
                        <a:t>&lt;</a:t>
                      </a:r>
                      <a:r>
                        <a:rPr lang="ko-KR" altLang="en-US" sz="1100" b="1" dirty="0"/>
                        <a:t>면접</a:t>
                      </a:r>
                      <a:r>
                        <a:rPr lang="en-US" altLang="ko-KR" sz="1100" b="1" dirty="0"/>
                        <a:t>&gt;</a:t>
                      </a:r>
                      <a:r>
                        <a:rPr lang="en-US" altLang="ko-KR" sz="1100" b="0" dirty="0"/>
                        <a:t> </a:t>
                      </a:r>
                    </a:p>
                    <a:p>
                      <a:pPr marL="0" marR="0" lvl="0" indent="0" algn="l" defTabSz="914400" rtl="0" eaLnBrk="1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 typeface="Arial"/>
                        <a:buNone/>
                        <a:defRPr/>
                      </a:pPr>
                      <a:r>
                        <a:rPr lang="ko-KR" altLang="en-US" sz="1100" b="0" dirty="0"/>
                        <a:t>한국무역보험공사</a:t>
                      </a:r>
                      <a:r>
                        <a:rPr lang="en-US" altLang="ko-KR" sz="1100" b="0" dirty="0"/>
                        <a:t>(</a:t>
                      </a:r>
                      <a:r>
                        <a:rPr lang="ko-KR" altLang="en-US" sz="1100" b="0" dirty="0"/>
                        <a:t>신입직원</a:t>
                      </a:r>
                      <a:r>
                        <a:rPr lang="en-US" altLang="ko-KR" sz="1100" b="0" dirty="0"/>
                        <a:t>,</a:t>
                      </a:r>
                      <a:r>
                        <a:rPr lang="ko-KR" altLang="en-US" sz="1100" b="0" dirty="0"/>
                        <a:t> 경력직원</a:t>
                      </a:r>
                      <a:r>
                        <a:rPr lang="en-US" altLang="ko-KR" sz="1100" b="0" dirty="0"/>
                        <a:t>)</a:t>
                      </a:r>
                      <a:r>
                        <a:rPr lang="ko-KR" altLang="en-US" sz="1100" b="0" dirty="0"/>
                        <a:t> </a:t>
                      </a:r>
                      <a:r>
                        <a:rPr lang="en-US" altLang="ko-KR" sz="1100" b="0" dirty="0"/>
                        <a:t>, </a:t>
                      </a:r>
                      <a:r>
                        <a:rPr lang="ko-KR" altLang="en-US" sz="1100" b="0" dirty="0" err="1"/>
                        <a:t>한국에너지기슬평가원</a:t>
                      </a:r>
                      <a:r>
                        <a:rPr lang="en-US" altLang="ko-KR" sz="1100" b="0" dirty="0"/>
                        <a:t>, </a:t>
                      </a:r>
                      <a:r>
                        <a:rPr lang="ko-KR" altLang="en-US" sz="1100" b="0" dirty="0" err="1"/>
                        <a:t>국립낙동강생물자원관</a:t>
                      </a:r>
                      <a:endParaRPr lang="en-US" altLang="ko-KR" sz="1100" b="0" dirty="0"/>
                    </a:p>
                    <a:p>
                      <a:pPr marL="0" marR="0" lvl="0" indent="0" algn="l" defTabSz="914400" rtl="0" eaLnBrk="1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 typeface="Arial"/>
                        <a:buNone/>
                        <a:defRPr/>
                      </a:pPr>
                      <a:r>
                        <a:rPr lang="ko-KR" altLang="en-US" sz="1100" b="0" dirty="0"/>
                        <a:t>한국발명진흥회</a:t>
                      </a:r>
                      <a:r>
                        <a:rPr lang="en-US" altLang="ko-KR" sz="1100" b="0" dirty="0"/>
                        <a:t>, </a:t>
                      </a:r>
                      <a:r>
                        <a:rPr lang="ko-KR" altLang="en-US" sz="1100" b="0" dirty="0"/>
                        <a:t>한국부동산원</a:t>
                      </a:r>
                      <a:r>
                        <a:rPr lang="en-US" altLang="ko-KR" sz="1100" b="0" dirty="0"/>
                        <a:t>, </a:t>
                      </a:r>
                      <a:r>
                        <a:rPr lang="ko-KR" altLang="en-US" sz="1100" b="0" dirty="0"/>
                        <a:t>기업은행</a:t>
                      </a:r>
                      <a:r>
                        <a:rPr lang="en-US" altLang="ko-KR" sz="1100" b="0" dirty="0"/>
                        <a:t>, </a:t>
                      </a:r>
                      <a:r>
                        <a:rPr lang="ko-KR" altLang="en-US" sz="1100" b="0" dirty="0"/>
                        <a:t>용인도시공사</a:t>
                      </a:r>
                      <a:r>
                        <a:rPr lang="en-US" altLang="ko-KR" sz="1100" b="0" dirty="0"/>
                        <a:t>, </a:t>
                      </a:r>
                      <a:r>
                        <a:rPr lang="ko-KR" altLang="en-US" sz="1100" b="0" dirty="0"/>
                        <a:t>한국전력기술</a:t>
                      </a:r>
                      <a:endParaRPr lang="en-US" altLang="ko-KR" sz="1100" b="0" dirty="0"/>
                    </a:p>
                    <a:p>
                      <a:pPr marL="0" marR="0" lvl="0" indent="0" algn="l" defTabSz="914400" rtl="0" eaLnBrk="1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 typeface="Arial"/>
                        <a:buNone/>
                        <a:defRPr/>
                      </a:pPr>
                      <a:r>
                        <a:rPr lang="en-US" altLang="ko-KR" sz="1100" b="1" dirty="0"/>
                        <a:t>&lt;</a:t>
                      </a:r>
                      <a:r>
                        <a:rPr lang="ko-KR" altLang="en-US" sz="1100" b="1" dirty="0"/>
                        <a:t>서류</a:t>
                      </a:r>
                      <a:r>
                        <a:rPr lang="en-US" altLang="ko-KR" sz="1100" b="1" dirty="0"/>
                        <a:t>&gt; </a:t>
                      </a:r>
                      <a:r>
                        <a:rPr lang="ko-KR" altLang="en-US" sz="1100" b="0" dirty="0"/>
                        <a:t>한전</a:t>
                      </a:r>
                      <a:r>
                        <a:rPr lang="en-US" altLang="ko-KR" sz="1100" b="0" dirty="0"/>
                        <a:t>FMS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3317356"/>
              </p:ext>
            </p:extLst>
          </p:nvPr>
        </p:nvGraphicFramePr>
        <p:xfrm>
          <a:off x="236662" y="5661248"/>
          <a:ext cx="8751074" cy="10504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0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790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422">
                <a:tc gridSpan="2">
                  <a:txBody>
                    <a:bodyPr/>
                    <a:lstStyle/>
                    <a:p>
                      <a:pPr marL="285750" marR="0" lvl="0" indent="-28575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 typeface="Wingdings"/>
                        <a:buChar char="Ø"/>
                        <a:defRPr/>
                      </a:pPr>
                      <a:r>
                        <a:rPr lang="ko-KR" altLang="en-US" sz="1200"/>
                        <a:t>기타</a:t>
                      </a:r>
                      <a:r>
                        <a:rPr lang="en-US" altLang="ko-KR" sz="1200"/>
                        <a:t>(</a:t>
                      </a:r>
                      <a:r>
                        <a:rPr lang="ko-KR" altLang="en-US" sz="1200"/>
                        <a:t>자격</a:t>
                      </a:r>
                      <a:r>
                        <a:rPr lang="ko-KR" altLang="en-US" sz="1200" baseline="0"/>
                        <a:t> 및 이수</a:t>
                      </a:r>
                      <a:r>
                        <a:rPr lang="en-US" altLang="ko-KR" sz="1200" baseline="0"/>
                        <a:t>, </a:t>
                      </a:r>
                      <a:r>
                        <a:rPr lang="ko-KR" altLang="en-US" sz="1200" baseline="0"/>
                        <a:t>저서 등</a:t>
                      </a:r>
                      <a:r>
                        <a:rPr lang="en-US" altLang="ko-KR" sz="1200" baseline="0"/>
                        <a:t>)</a:t>
                      </a:r>
                      <a:endParaRPr lang="ko-KR" altLang="en-US" sz="12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6159"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1200" b="1"/>
                        <a:t>자격 및 이수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lvl="0" indent="-285750" latinLnBrk="1">
                        <a:lnSpc>
                          <a:spcPct val="150000"/>
                        </a:lnSpc>
                        <a:buFont typeface="Arial"/>
                        <a:buChar char="•"/>
                        <a:defRPr/>
                      </a:pPr>
                      <a:r>
                        <a:rPr lang="ko-KR" altLang="en-US" sz="1100" dirty="0"/>
                        <a:t>공정채용</a:t>
                      </a:r>
                      <a:r>
                        <a:rPr lang="en-US" altLang="ko-KR" sz="1100" dirty="0"/>
                        <a:t>(</a:t>
                      </a:r>
                      <a:r>
                        <a:rPr lang="ko-KR" altLang="en-US" sz="1100" dirty="0"/>
                        <a:t>일반</a:t>
                      </a:r>
                      <a:r>
                        <a:rPr lang="en-US" altLang="ko-KR" sz="1100" dirty="0"/>
                        <a:t>) </a:t>
                      </a:r>
                      <a:r>
                        <a:rPr lang="ko-KR" altLang="en-US" sz="1100" dirty="0"/>
                        <a:t>평가위원교육 수료 </a:t>
                      </a:r>
                      <a:r>
                        <a:rPr lang="en-US" altLang="ko-KR" sz="1100" dirty="0"/>
                        <a:t>(</a:t>
                      </a:r>
                      <a:r>
                        <a:rPr lang="ko-KR" altLang="en-US" sz="1100" dirty="0"/>
                        <a:t>㈜</a:t>
                      </a:r>
                      <a:r>
                        <a:rPr lang="ko-KR" altLang="en-US" sz="1100" dirty="0" err="1"/>
                        <a:t>엑스퍼트컨설팅</a:t>
                      </a:r>
                      <a:r>
                        <a:rPr lang="en-US" altLang="ko-KR" sz="1100" dirty="0"/>
                        <a:t>)</a:t>
                      </a:r>
                    </a:p>
                    <a:p>
                      <a:pPr marL="285750" lvl="0" indent="-285750" latinLnBrk="1">
                        <a:lnSpc>
                          <a:spcPct val="150000"/>
                        </a:lnSpc>
                        <a:buFont typeface="Arial"/>
                        <a:buChar char="•"/>
                        <a:defRPr/>
                      </a:pPr>
                      <a:r>
                        <a:rPr lang="ko-KR" altLang="en-US" sz="1100" dirty="0"/>
                        <a:t>채용면접교육과정 수료</a:t>
                      </a:r>
                      <a:endParaRPr lang="en-US" altLang="ko-KR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제목 1"/>
          <p:cNvSpPr>
            <a:spLocks noGrp="1"/>
          </p:cNvSpPr>
          <p:nvPr>
            <p:ph type="ctrTitle"/>
          </p:nvPr>
        </p:nvSpPr>
        <p:spPr>
          <a:xfrm>
            <a:off x="0" y="1"/>
            <a:ext cx="2428860" cy="428604"/>
          </a:xfrm>
        </p:spPr>
        <p:txBody>
          <a:bodyPr>
            <a:normAutofit fontScale="90000"/>
          </a:bodyPr>
          <a:lstStyle/>
          <a:p>
            <a:pPr>
              <a:tabLst>
                <a:tab pos="533400" algn="l"/>
                <a:tab pos="625475" algn="l"/>
              </a:tabLst>
            </a:pPr>
            <a:r>
              <a:rPr lang="ko-KR" altLang="en-US" sz="2400" b="1">
                <a:solidFill>
                  <a:schemeClr val="accent1"/>
                </a:solidFill>
              </a:rPr>
              <a:t>면접관</a:t>
            </a:r>
            <a:r>
              <a:rPr lang="en-US" altLang="ko-KR" sz="2400" b="1">
                <a:solidFill>
                  <a:schemeClr val="accent1"/>
                </a:solidFill>
              </a:rPr>
              <a:t> Profile</a:t>
            </a:r>
            <a:endParaRPr lang="ko-KR" altLang="en-US" sz="2400" b="1">
              <a:solidFill>
                <a:schemeClr val="accent1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9CCB585-CD97-4694-8BCF-DEFA246965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662" y="836712"/>
            <a:ext cx="1311002" cy="1368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7894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232</Words>
  <Application>Microsoft Office PowerPoint</Application>
  <PresentationFormat>화면 슬라이드 쇼(4:3)</PresentationFormat>
  <Paragraphs>32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맑은 고딕</vt:lpstr>
      <vt:lpstr>Arial</vt:lpstr>
      <vt:lpstr>Wingdings</vt:lpstr>
      <vt:lpstr>Office 테마</vt:lpstr>
      <vt:lpstr>면접관 Profile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Consultant Profile</dc:title>
  <dc:creator>이승철</dc:creator>
  <cp:lastModifiedBy>권미경</cp:lastModifiedBy>
  <cp:revision>154</cp:revision>
  <dcterms:created xsi:type="dcterms:W3CDTF">2014-08-26T23:33:08Z</dcterms:created>
  <dcterms:modified xsi:type="dcterms:W3CDTF">2025-12-28T01:32:15Z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Fasoo_Trace_ID">
    <vt:lpwstr>eyJub2RlMSI6eyJkc2QiOiIwMTAwMDAwMDAwMDAxODE1IiwibG9nVGltZSI6IjIwMjUtMDgtMTlUMDg6MDk6MDJaIiwicElEIjoxLCJwcm9jZXNzSWQiOjE0MTEyLCJwcm9jZXNzTmFtZSI6ImZfYmF0bWdyLmV4ZSIsInRyYWNlSWQiOiIwNDE0OTMzMjdGNEU0QzJEQTY4MzAxQ0E5NDZDMDlBRiIsInVzZXJDb2RlIjoiMDEwMjcifSwibm9</vt:lpwstr>
  </property>
</Properties>
</file>