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2" r:id="rId2"/>
  </p:sldIdLst>
  <p:sldSz cx="9144000" cy="6858000" type="screen4x3"/>
  <p:notesSz cx="6792913" cy="99250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380" y="52"/>
      </p:cViewPr>
      <p:guideLst>
        <p:guide orient="horz" pos="215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7F8A21-0F63-429A-9C5B-5B4F561B3D94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1241425"/>
            <a:ext cx="4465637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4013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10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BD334E-CF29-4AA7-9DD0-1ACF201F69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029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BD334E-CF29-4AA7-9DD0-1ACF201F69E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65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810350"/>
              </p:ext>
            </p:extLst>
          </p:nvPr>
        </p:nvGraphicFramePr>
        <p:xfrm>
          <a:off x="220132" y="505357"/>
          <a:ext cx="8740304" cy="2158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4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1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4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28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5277">
                <a:tc gridSpan="5">
                  <a:txBody>
                    <a:bodyPr/>
                    <a:lstStyle/>
                    <a:p>
                      <a:pPr marL="285750" lvl="0" indent="-285750" latinLnBrk="1">
                        <a:buFont typeface="Wingdings"/>
                        <a:buChar char="Ø"/>
                        <a:defRPr/>
                      </a:pPr>
                      <a:r>
                        <a:rPr lang="ko-KR" altLang="en-US" sz="1400" dirty="0"/>
                        <a:t>기본인적사항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72">
                <a:tc row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이         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 dirty="0"/>
                        <a:t>우정아</a:t>
                      </a:r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禹定我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1200" dirty="0"/>
                        <a:t>1970</a:t>
                      </a:r>
                      <a:r>
                        <a:rPr lang="ko-KR" altLang="en-US" sz="1200" dirty="0"/>
                        <a:t>년 </a:t>
                      </a:r>
                      <a:r>
                        <a:rPr lang="en-US" altLang="ko-KR" sz="1200" dirty="0"/>
                        <a:t>6</a:t>
                      </a:r>
                      <a:r>
                        <a:rPr lang="ko-KR" altLang="en-US" sz="1200" dirty="0"/>
                        <a:t>월 </a:t>
                      </a:r>
                      <a:r>
                        <a:rPr lang="en-US" altLang="ko-KR" sz="1200" dirty="0"/>
                        <a:t>7</a:t>
                      </a:r>
                      <a:r>
                        <a:rPr lang="ko-KR" altLang="en-US" sz="1200" dirty="0"/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236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200" i="0" baseline="0" dirty="0"/>
                        <a:t>㈜한국전산감리원 수석   </a:t>
                      </a:r>
                      <a:r>
                        <a:rPr lang="ko-KR" altLang="en-US" sz="1200" baseline="0" dirty="0"/>
                        <a:t>  </a:t>
                      </a:r>
                      <a:r>
                        <a:rPr lang="en-US" altLang="ko-KR" sz="12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traces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@naver.com </a:t>
                      </a:r>
                      <a:r>
                        <a:rPr lang="en-US" altLang="ko-KR" sz="12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200" baseline="0" dirty="0"/>
                        <a:t>010-3278-8978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914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 dirty="0"/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vl="0" latinLnBrk="1">
                        <a:lnSpc>
                          <a:spcPct val="150000"/>
                        </a:lnSpc>
                        <a:defRPr/>
                      </a:pPr>
                      <a:r>
                        <a:rPr lang="ko-KR" altLang="en-US" sz="1200" dirty="0"/>
                        <a:t>개인정보보호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공공데이터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데이터기반행정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정보시스템 감리</a:t>
                      </a:r>
                      <a:r>
                        <a:rPr lang="en-US" altLang="ko-KR" sz="1200" dirty="0"/>
                        <a:t>, IT </a:t>
                      </a:r>
                      <a:r>
                        <a:rPr lang="ko-KR" altLang="en-US" sz="1200" dirty="0"/>
                        <a:t>정책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기술경영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711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학          력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vl="0" algn="l" latinLnBrk="1">
                        <a:defRPr/>
                      </a:pPr>
                      <a:r>
                        <a:rPr lang="ko-KR" altLang="en-US" sz="1200" dirty="0"/>
                        <a:t>한양대학교 문학사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한양대학교 공학석사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전자계산학과</a:t>
                      </a:r>
                      <a:r>
                        <a:rPr lang="en-US" altLang="ko-KR" sz="1200" dirty="0"/>
                        <a:t>),</a:t>
                      </a:r>
                    </a:p>
                    <a:p>
                      <a:pPr lvl="0" algn="l" latinLnBrk="1">
                        <a:defRPr/>
                      </a:pP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한양대학교 공학박사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정보기술경영학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533477"/>
              </p:ext>
            </p:extLst>
          </p:nvPr>
        </p:nvGraphicFramePr>
        <p:xfrm>
          <a:off x="201848" y="2663466"/>
          <a:ext cx="8740304" cy="2878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2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013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400" dirty="0"/>
                        <a:t>경력사항 및 수행실적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0666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0" dirty="0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57080" marR="0" lvl="0" indent="-15708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endParaRPr lang="en-US" altLang="ko-KR" sz="1100" b="0" i="0" baseline="0" dirty="0"/>
                    </a:p>
                    <a:p>
                      <a:pPr marL="157080" marR="0" lvl="0" indent="-15708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lang="ko-KR" altLang="en-US" sz="1100" b="0" i="0" baseline="0" dirty="0"/>
                        <a:t>現</a:t>
                      </a:r>
                      <a:r>
                        <a:rPr lang="en-US" altLang="ko-KR" sz="1100" b="0" i="0" baseline="0" dirty="0"/>
                        <a:t>) </a:t>
                      </a:r>
                      <a:r>
                        <a:rPr lang="ko-KR" altLang="en-US" sz="1100" b="0" i="0" baseline="0" dirty="0"/>
                        <a:t>㈜한국전산감리원 정보보호사업부 수석</a:t>
                      </a:r>
                      <a:r>
                        <a:rPr lang="en-US" altLang="ko-KR" sz="1100" b="0" i="0" baseline="0" dirty="0"/>
                        <a:t>(2024.01~ </a:t>
                      </a:r>
                      <a:r>
                        <a:rPr lang="ko-KR" altLang="en-US" sz="1100" b="0" i="0" baseline="0" dirty="0"/>
                        <a:t>현재</a:t>
                      </a:r>
                      <a:r>
                        <a:rPr lang="en-US" altLang="ko-KR" sz="1100" b="0" i="0" baseline="0" dirty="0"/>
                        <a:t>)</a:t>
                      </a:r>
                    </a:p>
                    <a:p>
                      <a:pPr marL="157080" marR="0" lvl="0" indent="-15708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lang="ko-KR" altLang="en-US" sz="1100" b="0" i="0" dirty="0"/>
                        <a:t>前</a:t>
                      </a:r>
                      <a:r>
                        <a:rPr lang="en-US" altLang="ko-KR" sz="1100" b="0" i="0" dirty="0"/>
                        <a:t>) </a:t>
                      </a:r>
                      <a:r>
                        <a:rPr lang="ko-KR" altLang="en-US" sz="1100" b="0" i="0" dirty="0"/>
                        <a:t>방위사업청 정보기획담당관실 전산사무관</a:t>
                      </a:r>
                      <a:r>
                        <a:rPr lang="en-US" altLang="ko-KR" sz="1100" b="0" i="0" dirty="0"/>
                        <a:t>(2020</a:t>
                      </a:r>
                      <a:r>
                        <a:rPr lang="ko-KR" altLang="en-US" sz="1100" b="0" i="0" dirty="0"/>
                        <a:t>년</a:t>
                      </a:r>
                      <a:r>
                        <a:rPr lang="en-US" altLang="ko-KR" sz="1100" b="0" i="0" dirty="0"/>
                        <a:t> 06</a:t>
                      </a:r>
                      <a:r>
                        <a:rPr lang="ko-KR" altLang="en-US" sz="1100" b="0" i="0" dirty="0"/>
                        <a:t>월</a:t>
                      </a:r>
                      <a:r>
                        <a:rPr lang="en-US" altLang="ko-KR" sz="1100" b="0" i="0" dirty="0"/>
                        <a:t>~2022</a:t>
                      </a:r>
                      <a:r>
                        <a:rPr lang="ko-KR" altLang="en-US" sz="1100" b="0" i="0" dirty="0"/>
                        <a:t>년 </a:t>
                      </a:r>
                      <a:r>
                        <a:rPr lang="en-US" altLang="ko-KR" sz="1100" b="0" i="0" dirty="0"/>
                        <a:t>05</a:t>
                      </a:r>
                      <a:r>
                        <a:rPr lang="ko-KR" altLang="en-US" sz="1100" b="0" i="0" dirty="0"/>
                        <a:t>월</a:t>
                      </a:r>
                      <a:r>
                        <a:rPr lang="en-US" altLang="ko-KR" sz="1100" b="0" i="0" dirty="0"/>
                        <a:t>)</a:t>
                      </a:r>
                      <a:endParaRPr lang="ko-KR" altLang="en-US" sz="1100" b="0" i="0" dirty="0"/>
                    </a:p>
                    <a:p>
                      <a:pPr marL="157080" marR="0" lvl="0" indent="-15708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1100" b="0" i="0" dirty="0"/>
                        <a:t>前</a:t>
                      </a:r>
                      <a:r>
                        <a:rPr lang="en-US" altLang="ko-KR" sz="1100" b="0" i="0" dirty="0"/>
                        <a:t>) </a:t>
                      </a:r>
                      <a:r>
                        <a:rPr lang="ko-KR" altLang="en-US" sz="1100" b="0" i="0" dirty="0"/>
                        <a:t>관세청 정보기획과 전산주사</a:t>
                      </a:r>
                      <a:r>
                        <a:rPr lang="en-US" altLang="ko-KR" sz="1100" b="0" i="0" dirty="0"/>
                        <a:t>(2019</a:t>
                      </a:r>
                      <a:r>
                        <a:rPr lang="ko-KR" altLang="en-US" sz="1100" b="0" i="0" dirty="0"/>
                        <a:t>년</a:t>
                      </a:r>
                      <a:r>
                        <a:rPr lang="en-US" altLang="ko-KR" sz="1100" b="0" i="0" dirty="0"/>
                        <a:t> 09</a:t>
                      </a:r>
                      <a:r>
                        <a:rPr lang="ko-KR" altLang="en-US" sz="1100" b="0" i="0" dirty="0"/>
                        <a:t>월</a:t>
                      </a:r>
                      <a:r>
                        <a:rPr lang="en-US" altLang="ko-KR" sz="1100" b="0" i="0" dirty="0"/>
                        <a:t>~2020</a:t>
                      </a:r>
                      <a:r>
                        <a:rPr lang="ko-KR" altLang="en-US" sz="1100" b="0" i="0" dirty="0"/>
                        <a:t>년 </a:t>
                      </a:r>
                      <a:r>
                        <a:rPr lang="en-US" altLang="ko-KR" sz="1100" b="0" i="0" dirty="0"/>
                        <a:t>05</a:t>
                      </a:r>
                      <a:r>
                        <a:rPr lang="ko-KR" altLang="en-US" sz="1100" b="0" i="0" dirty="0"/>
                        <a:t>월</a:t>
                      </a:r>
                      <a:r>
                        <a:rPr lang="en-US" altLang="ko-KR" sz="1100" b="0" i="0" dirty="0"/>
                        <a:t>)</a:t>
                      </a:r>
                      <a:endParaRPr lang="ko-KR" altLang="en-US" sz="1100" b="0" i="0" dirty="0"/>
                    </a:p>
                    <a:p>
                      <a:pPr marL="157080" marR="0" lvl="0" indent="-15708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1100" b="0" i="0" dirty="0"/>
                        <a:t>前</a:t>
                      </a:r>
                      <a:r>
                        <a:rPr lang="en-US" altLang="ko-KR" sz="1100" b="0" i="0" dirty="0"/>
                        <a:t>) </a:t>
                      </a:r>
                      <a:r>
                        <a:rPr lang="ko-KR" altLang="en-US" sz="1100" b="0" i="0" dirty="0"/>
                        <a:t>㈜한국정보기술단 공공사업감리본부 책임</a:t>
                      </a:r>
                      <a:r>
                        <a:rPr lang="en-US" altLang="ko-KR" sz="1100" b="0" i="0" dirty="0"/>
                        <a:t>(2012</a:t>
                      </a:r>
                      <a:r>
                        <a:rPr lang="ko-KR" altLang="en-US" sz="1100" b="0" i="0" dirty="0"/>
                        <a:t>년</a:t>
                      </a:r>
                      <a:r>
                        <a:rPr lang="en-US" altLang="ko-KR" sz="1100" b="0" i="0" dirty="0"/>
                        <a:t> 10</a:t>
                      </a:r>
                      <a:r>
                        <a:rPr lang="ko-KR" altLang="en-US" sz="1100" b="0" i="0" dirty="0"/>
                        <a:t>월</a:t>
                      </a:r>
                      <a:r>
                        <a:rPr lang="en-US" altLang="ko-KR" sz="1100" b="0" i="0" dirty="0"/>
                        <a:t>~2018</a:t>
                      </a:r>
                      <a:r>
                        <a:rPr lang="ko-KR" altLang="en-US" sz="1100" b="0" i="0" dirty="0"/>
                        <a:t>년 </a:t>
                      </a:r>
                      <a:r>
                        <a:rPr lang="en-US" altLang="ko-KR" sz="1100" b="0" i="0" dirty="0"/>
                        <a:t>11</a:t>
                      </a:r>
                      <a:r>
                        <a:rPr lang="ko-KR" altLang="en-US" sz="1100" b="0" i="0" dirty="0"/>
                        <a:t>월</a:t>
                      </a:r>
                      <a:r>
                        <a:rPr lang="en-US" altLang="ko-KR" sz="1100" b="0" i="0" dirty="0"/>
                        <a:t>)</a:t>
                      </a:r>
                      <a:endParaRPr lang="ko-KR" altLang="en-US" sz="1100" b="0" i="0" dirty="0"/>
                    </a:p>
                    <a:p>
                      <a:pPr marL="157080" marR="0" lvl="0" indent="-15708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1100" b="0" i="0" dirty="0"/>
                        <a:t>前</a:t>
                      </a:r>
                      <a:r>
                        <a:rPr lang="en-US" altLang="ko-KR" sz="1100" b="0" i="0" dirty="0"/>
                        <a:t>) </a:t>
                      </a:r>
                      <a:r>
                        <a:rPr lang="ko-KR" altLang="en-US" sz="1100" b="0" i="0" dirty="0"/>
                        <a:t>성남시청 비전추진단 </a:t>
                      </a:r>
                      <a:r>
                        <a:rPr lang="ko-KR" altLang="en-US" sz="1100" b="0" i="0" dirty="0" err="1"/>
                        <a:t>전임다급</a:t>
                      </a:r>
                      <a:r>
                        <a:rPr lang="en-US" altLang="ko-KR" sz="1100" b="0" i="0" dirty="0"/>
                        <a:t>(2007</a:t>
                      </a:r>
                      <a:r>
                        <a:rPr lang="ko-KR" altLang="en-US" sz="1100" b="0" i="0" dirty="0"/>
                        <a:t>년</a:t>
                      </a:r>
                      <a:r>
                        <a:rPr lang="en-US" altLang="ko-KR" sz="1100" b="0" i="0" dirty="0"/>
                        <a:t> 06</a:t>
                      </a:r>
                      <a:r>
                        <a:rPr lang="ko-KR" altLang="en-US" sz="1100" b="0" i="0" dirty="0"/>
                        <a:t>월</a:t>
                      </a:r>
                      <a:r>
                        <a:rPr lang="en-US" altLang="ko-KR" sz="1100" b="0" i="0" dirty="0"/>
                        <a:t>~2010</a:t>
                      </a:r>
                      <a:r>
                        <a:rPr lang="ko-KR" altLang="en-US" sz="1100" b="0" i="0" dirty="0"/>
                        <a:t>년 </a:t>
                      </a:r>
                      <a:r>
                        <a:rPr lang="en-US" altLang="ko-KR" sz="1100" b="0" i="0" dirty="0"/>
                        <a:t>06</a:t>
                      </a:r>
                      <a:r>
                        <a:rPr lang="ko-KR" altLang="en-US" sz="1100" b="0" i="0" dirty="0"/>
                        <a:t>월</a:t>
                      </a:r>
                      <a:r>
                        <a:rPr lang="en-US" altLang="ko-KR" sz="1100" b="0" i="0" dirty="0"/>
                        <a:t>)</a:t>
                      </a:r>
                    </a:p>
                    <a:p>
                      <a:pPr marL="157080" marR="0" lvl="0" indent="-15708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1100" b="0" i="0" dirty="0"/>
                        <a:t>前</a:t>
                      </a:r>
                      <a:r>
                        <a:rPr lang="en-US" altLang="ko-KR" sz="1100" b="0" i="0" dirty="0"/>
                        <a:t>) </a:t>
                      </a:r>
                      <a:r>
                        <a:rPr lang="ko-KR" altLang="en-US" sz="1100" b="0" i="0" dirty="0" err="1"/>
                        <a:t>동서울대학</a:t>
                      </a:r>
                      <a:r>
                        <a:rPr lang="ko-KR" altLang="en-US" sz="1100" b="0" i="0" dirty="0"/>
                        <a:t> 컴퓨터정보과 초빙전임강사</a:t>
                      </a:r>
                      <a:r>
                        <a:rPr lang="en-US" altLang="ko-KR" sz="1100" b="0" i="0" dirty="0"/>
                        <a:t>(2001</a:t>
                      </a:r>
                      <a:r>
                        <a:rPr lang="ko-KR" altLang="en-US" sz="1100" b="0" i="0" dirty="0"/>
                        <a:t>년</a:t>
                      </a:r>
                      <a:r>
                        <a:rPr lang="en-US" altLang="ko-KR" sz="1100" b="0" i="0" dirty="0"/>
                        <a:t> 09</a:t>
                      </a:r>
                      <a:r>
                        <a:rPr lang="ko-KR" altLang="en-US" sz="1100" b="0" i="0" dirty="0"/>
                        <a:t>월</a:t>
                      </a:r>
                      <a:r>
                        <a:rPr lang="en-US" altLang="ko-KR" sz="1100" b="0" i="0" dirty="0"/>
                        <a:t>~2005</a:t>
                      </a:r>
                      <a:r>
                        <a:rPr lang="ko-KR" altLang="en-US" sz="1100" b="0" i="0" dirty="0"/>
                        <a:t>년 </a:t>
                      </a:r>
                      <a:r>
                        <a:rPr lang="en-US" altLang="ko-KR" sz="1100" b="0" i="0" dirty="0"/>
                        <a:t>02</a:t>
                      </a:r>
                      <a:r>
                        <a:rPr lang="ko-KR" altLang="en-US" sz="1100" b="0" i="0" dirty="0"/>
                        <a:t>월</a:t>
                      </a:r>
                      <a:r>
                        <a:rPr lang="en-US" altLang="ko-KR" sz="1100" b="0" i="0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11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889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 dirty="0"/>
                        <a:t>수행실적</a:t>
                      </a:r>
                      <a:endParaRPr lang="en-US" altLang="ko-KR" sz="1200" b="1" dirty="0"/>
                    </a:p>
                    <a:p>
                      <a:pPr lvl="0" algn="ctr" latinLnBrk="1">
                        <a:defRPr/>
                      </a:pPr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심사 및 평가위원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57080" marR="0" lvl="0" indent="-15708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서류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b="0" i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한국산업기술기획평가원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한국정보기술연구원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한국산업단지공단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57080" marR="0" lvl="0" indent="-15708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면접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한국정보기술단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관세청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57080" marR="0" lvl="0" indent="-15708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가명정보전문가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개인정보관리 전문기관 지정심사위원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개인정보위원회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57080" marR="0" lvl="0" indent="-15708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기술평가위원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100" b="0" i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코이카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(KOICA)</a:t>
                      </a:r>
                    </a:p>
                    <a:p>
                      <a:pPr marL="157080" marR="0" lvl="0" indent="-15708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산업기술혁신평가위원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561305"/>
              </p:ext>
            </p:extLst>
          </p:nvPr>
        </p:nvGraphicFramePr>
        <p:xfrm>
          <a:off x="210880" y="5576169"/>
          <a:ext cx="8740304" cy="12958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0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6237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400" dirty="0"/>
                        <a:t>기타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자격</a:t>
                      </a:r>
                      <a:r>
                        <a:rPr lang="ko-KR" altLang="en-US" sz="1400" baseline="0" dirty="0"/>
                        <a:t> 및 이수</a:t>
                      </a:r>
                      <a:r>
                        <a:rPr lang="en-US" altLang="ko-KR" sz="1400" baseline="0" dirty="0"/>
                        <a:t>, </a:t>
                      </a:r>
                      <a:r>
                        <a:rPr lang="ko-KR" altLang="en-US" sz="1400" baseline="0" dirty="0"/>
                        <a:t>저서 등</a:t>
                      </a:r>
                      <a:r>
                        <a:rPr lang="en-US" altLang="ko-KR" sz="1400" baseline="0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594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 dirty="0"/>
                        <a:t>자격 및 이수</a:t>
                      </a:r>
                      <a:r>
                        <a:rPr lang="en-US" altLang="ko-KR" sz="1200" b="1" dirty="0"/>
                        <a:t>,</a:t>
                      </a: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200" b="1" dirty="0"/>
                        <a:t>저서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채용면접전문가 자격과정 이수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한현수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우정아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개인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기업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사회적 지원 관점에서 스마트워크 효용 탐색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한국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IT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서비스학회지 제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권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호 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2012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(KCI)</a:t>
                      </a:r>
                      <a:endParaRPr lang="ko-KR" altLang="en-US" sz="1100" dirty="0"/>
                    </a:p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한현수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우정아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스마트 어플리케이션 동향과 디지털 정책 시사점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b="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디지털융복합연구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제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권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호 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2012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(KCI)</a:t>
                      </a:r>
                    </a:p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우정아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한현수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사례분석을 통한 전자의료 산업 비즈니스 모델 분석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전자상거래학회지 제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권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호 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2004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46D1DE1-E6F5-56FF-06A8-D8B19CF98961}"/>
              </a:ext>
            </a:extLst>
          </p:cNvPr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C7E1D0BF-2EEB-900E-50DD-970F59CB7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68560" y="36821"/>
            <a:ext cx="2428860" cy="428604"/>
          </a:xfrm>
        </p:spPr>
        <p:txBody>
          <a:bodyPr>
            <a:normAutofit fontScale="90000"/>
          </a:bodyPr>
          <a:lstStyle/>
          <a:p>
            <a:pPr lvl="0">
              <a:tabLst>
                <a:tab pos="533400" algn="l"/>
                <a:tab pos="625475" algn="l"/>
              </a:tabLst>
              <a:defRPr/>
            </a:pPr>
            <a:r>
              <a:rPr lang="en-US" altLang="ko-KR" sz="2400" b="1" dirty="0">
                <a:solidFill>
                  <a:schemeClr val="accent1"/>
                </a:solidFill>
              </a:rPr>
              <a:t>Profile</a:t>
            </a:r>
            <a:endParaRPr lang="ko-KR" altLang="en-US" sz="2400" b="1" dirty="0">
              <a:solidFill>
                <a:schemeClr val="accent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932CF6D-C12A-A9D9-C480-2B1E2067C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037769"/>
            <a:ext cx="1080120" cy="147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260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279</Words>
  <Application>Microsoft Office PowerPoint</Application>
  <PresentationFormat>화면 슬라이드 쇼(4:3)</PresentationFormat>
  <Paragraphs>37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Profile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155</cp:revision>
  <dcterms:created xsi:type="dcterms:W3CDTF">2014-08-26T23:33:08Z</dcterms:created>
  <dcterms:modified xsi:type="dcterms:W3CDTF">2025-09-04T21:36:54Z</dcterms:modified>
  <cp:version/>
</cp:coreProperties>
</file>